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sldIdLst>
    <p:sldId id="257" r:id="rId2"/>
    <p:sldId id="259" r:id="rId3"/>
    <p:sldId id="258" r:id="rId4"/>
    <p:sldId id="260"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E991B3-64B9-B914-AF55-03270E278102}" v="454" dt="2025-10-28T02:20:45.088"/>
    <p1510:client id="{E025BA97-F811-7840-B4E4-B314E21BE1C3}" v="739" dt="2025-10-28T02:52:27.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041" autoAdjust="0"/>
    <p:restoredTop sz="94660"/>
  </p:normalViewPr>
  <p:slideViewPr>
    <p:cSldViewPr snapToGrid="0">
      <p:cViewPr>
        <p:scale>
          <a:sx n="93" d="100"/>
          <a:sy n="93" d="100"/>
        </p:scale>
        <p:origin x="14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8D02EB-9763-6F40-94B5-AEB5915C59A3}" type="datetimeFigureOut">
              <a:rPr lang="en-US" smtClean="0"/>
              <a:t>10/27/25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627A2E-477D-954A-9684-6705BF807350}" type="slidenum">
              <a:rPr lang="en-US" smtClean="0"/>
              <a:t>‹#›</a:t>
            </a:fld>
            <a:endParaRPr lang="en-US"/>
          </a:p>
        </p:txBody>
      </p:sp>
    </p:spTree>
    <p:extLst>
      <p:ext uri="{BB962C8B-B14F-4D97-AF65-F5344CB8AC3E}">
        <p14:creationId xmlns:p14="http://schemas.microsoft.com/office/powerpoint/2010/main" val="2018850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17E5A-5F2D-D84E-8819-1A934825F007}" type="slidenum">
              <a:rPr lang="en-US" smtClean="0"/>
              <a:t>1</a:t>
            </a:fld>
            <a:endParaRPr lang="en-US"/>
          </a:p>
        </p:txBody>
      </p:sp>
    </p:spTree>
    <p:extLst>
      <p:ext uri="{BB962C8B-B14F-4D97-AF65-F5344CB8AC3E}">
        <p14:creationId xmlns:p14="http://schemas.microsoft.com/office/powerpoint/2010/main" val="2542967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17E5A-5F2D-D84E-8819-1A934825F007}" type="slidenum">
              <a:rPr lang="en-US" smtClean="0"/>
              <a:t>3</a:t>
            </a:fld>
            <a:endParaRPr lang="en-US"/>
          </a:p>
        </p:txBody>
      </p:sp>
    </p:spTree>
    <p:extLst>
      <p:ext uri="{BB962C8B-B14F-4D97-AF65-F5344CB8AC3E}">
        <p14:creationId xmlns:p14="http://schemas.microsoft.com/office/powerpoint/2010/main" val="794526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46CE7D5-CF57-46EF-B807-FDD0502418D4}" type="datetimeFigureOut">
              <a:rPr lang="en-US" smtClean="0"/>
              <a:t>10/27/25</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330EA680-D336-4FF7-8B7A-9848BB0A1C32}"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364479694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01265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46CE7D5-CF57-46EF-B807-FDD0502418D4}" type="datetimeFigureOut">
              <a:rPr lang="en-US" smtClean="0"/>
              <a:t>10/27/25</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330EA680-D336-4FF7-8B7A-9848BB0A1C32}"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en-US"/>
          </a:p>
        </p:txBody>
      </p:sp>
    </p:spTree>
    <p:extLst>
      <p:ext uri="{BB962C8B-B14F-4D97-AF65-F5344CB8AC3E}">
        <p14:creationId xmlns:p14="http://schemas.microsoft.com/office/powerpoint/2010/main" val="154517523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10/27/25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22133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10/27/25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94824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10/27/25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01467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40022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46CE7D5-CF57-46EF-B807-FDD0502418D4}" type="datetimeFigureOut">
              <a:rPr lang="en-US" smtClean="0"/>
              <a:t>10/27/25</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30EA680-D336-4FF7-8B7A-9848BB0A1C32}"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87287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46CE7D5-CF57-46EF-B807-FDD0502418D4}" type="datetimeFigureOut">
              <a:rPr lang="en-US" smtClean="0"/>
              <a:t>10/27/25</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30EA680-D336-4FF7-8B7A-9848BB0A1C32}"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15449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85829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22256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46CE7D5-CF57-46EF-B807-FDD0502418D4}" type="datetimeFigureOut">
              <a:rPr lang="en-US" smtClean="0"/>
              <a:t>10/27/25</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330EA680-D336-4FF7-8B7A-9848BB0A1C32}"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7214040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KanishkSharma7/ChatBotProject" TargetMode="External"/><Relationship Id="rId2" Type="http://schemas.openxmlformats.org/officeDocument/2006/relationships/hyperlink" Target="https://surgio.streamlit.app/" TargetMode="External"/><Relationship Id="rId1" Type="http://schemas.openxmlformats.org/officeDocument/2006/relationships/slideLayout" Target="../slideLayouts/slideLayout2.xml"/><Relationship Id="rId4" Type="http://schemas.openxmlformats.org/officeDocument/2006/relationships/hyperlink" Target="https://github.com/KanishkSharma7/ChatBotProject.g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5531F-CD02-9C8E-2A9C-5427047E26C8}"/>
              </a:ext>
            </a:extLst>
          </p:cNvPr>
          <p:cNvSpPr>
            <a:spLocks noGrp="1"/>
          </p:cNvSpPr>
          <p:nvPr>
            <p:ph type="ctrTitle"/>
          </p:nvPr>
        </p:nvSpPr>
        <p:spPr/>
        <p:txBody>
          <a:bodyPr/>
          <a:lstStyle/>
          <a:p>
            <a:r>
              <a:rPr lang="en-US" dirty="0"/>
              <a:t>Assignment 1.4</a:t>
            </a:r>
          </a:p>
        </p:txBody>
      </p:sp>
      <p:sp>
        <p:nvSpPr>
          <p:cNvPr id="3" name="Subtitle 2">
            <a:extLst>
              <a:ext uri="{FF2B5EF4-FFF2-40B4-BE49-F238E27FC236}">
                <a16:creationId xmlns:a16="http://schemas.microsoft.com/office/drawing/2014/main" id="{95E5A234-6B5F-2837-52D2-E4E7E1989BE7}"/>
              </a:ext>
            </a:extLst>
          </p:cNvPr>
          <p:cNvSpPr>
            <a:spLocks noGrp="1"/>
          </p:cNvSpPr>
          <p:nvPr>
            <p:ph type="subTitle" idx="1"/>
          </p:nvPr>
        </p:nvSpPr>
        <p:spPr/>
        <p:txBody>
          <a:bodyPr/>
          <a:lstStyle/>
          <a:p>
            <a:r>
              <a:rPr lang="en-US" dirty="0"/>
              <a:t>AI Chatbot Assistant Workflow Overview</a:t>
            </a:r>
          </a:p>
          <a:p>
            <a:r>
              <a:rPr lang="en-US" dirty="0"/>
              <a:t>Surgio (PocketDoc)</a:t>
            </a:r>
          </a:p>
        </p:txBody>
      </p:sp>
    </p:spTree>
    <p:extLst>
      <p:ext uri="{BB962C8B-B14F-4D97-AF65-F5344CB8AC3E}">
        <p14:creationId xmlns:p14="http://schemas.microsoft.com/office/powerpoint/2010/main" val="3849063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16E44-35A2-A570-667A-2326033D2BEE}"/>
              </a:ext>
            </a:extLst>
          </p:cNvPr>
          <p:cNvSpPr>
            <a:spLocks noGrp="1"/>
          </p:cNvSpPr>
          <p:nvPr>
            <p:ph type="title"/>
          </p:nvPr>
        </p:nvSpPr>
        <p:spPr>
          <a:xfrm>
            <a:off x="797192" y="292644"/>
            <a:ext cx="7199085" cy="798286"/>
          </a:xfrm>
        </p:spPr>
        <p:txBody>
          <a:bodyPr/>
          <a:lstStyle/>
          <a:p>
            <a:r>
              <a:rPr lang="en-US" b="1" u="sng" dirty="0"/>
              <a:t>Surgio (PocketDoc)</a:t>
            </a:r>
          </a:p>
        </p:txBody>
      </p:sp>
      <p:pic>
        <p:nvPicPr>
          <p:cNvPr id="13" name="Picture 12">
            <a:extLst>
              <a:ext uri="{FF2B5EF4-FFF2-40B4-BE49-F238E27FC236}">
                <a16:creationId xmlns:a16="http://schemas.microsoft.com/office/drawing/2014/main" id="{18039E92-F7F3-EFC3-7428-311F0BC1A4D5}"/>
              </a:ext>
            </a:extLst>
          </p:cNvPr>
          <p:cNvPicPr>
            <a:picLocks noChangeAspect="1"/>
          </p:cNvPicPr>
          <p:nvPr/>
        </p:nvPicPr>
        <p:blipFill>
          <a:blip r:embed="rId2"/>
          <a:stretch>
            <a:fillRect/>
          </a:stretch>
        </p:blipFill>
        <p:spPr>
          <a:xfrm>
            <a:off x="797192" y="1588472"/>
            <a:ext cx="6131644" cy="4145480"/>
          </a:xfrm>
          <a:prstGeom prst="rect">
            <a:avLst/>
          </a:prstGeom>
        </p:spPr>
      </p:pic>
      <p:sp>
        <p:nvSpPr>
          <p:cNvPr id="14" name="TextBox 13">
            <a:extLst>
              <a:ext uri="{FF2B5EF4-FFF2-40B4-BE49-F238E27FC236}">
                <a16:creationId xmlns:a16="http://schemas.microsoft.com/office/drawing/2014/main" id="{0A556CA5-B317-58DE-580D-6BFCFED61811}"/>
              </a:ext>
            </a:extLst>
          </p:cNvPr>
          <p:cNvSpPr txBox="1"/>
          <p:nvPr/>
        </p:nvSpPr>
        <p:spPr>
          <a:xfrm>
            <a:off x="7602933" y="197346"/>
            <a:ext cx="4255219" cy="5693866"/>
          </a:xfrm>
          <a:prstGeom prst="rect">
            <a:avLst/>
          </a:prstGeom>
          <a:noFill/>
        </p:spPr>
        <p:txBody>
          <a:bodyPr wrap="square" rtlCol="0">
            <a:spAutoFit/>
          </a:bodyPr>
          <a:lstStyle/>
          <a:p>
            <a:r>
              <a:rPr lang="en-US" sz="1600" b="1" u="sng" dirty="0"/>
              <a:t>Surgio (PocketDoc)</a:t>
            </a:r>
            <a:r>
              <a:rPr lang="en-US" sz="1600" b="1" dirty="0"/>
              <a:t>  </a:t>
            </a:r>
            <a:r>
              <a:rPr lang="en-US" sz="1600" dirty="0"/>
              <a:t>is a </a:t>
            </a:r>
            <a:r>
              <a:rPr lang="en-US" sz="1600" b="1" dirty="0"/>
              <a:t>Stream-lit based AI chatbot  </a:t>
            </a:r>
            <a:r>
              <a:rPr lang="en-US" sz="1600" dirty="0"/>
              <a:t>using</a:t>
            </a:r>
            <a:r>
              <a:rPr lang="en-US" sz="1600" b="1" dirty="0"/>
              <a:t> Google’s Gemini API Key </a:t>
            </a:r>
            <a:r>
              <a:rPr lang="en-US" sz="1600" dirty="0"/>
              <a:t>engineered to deliver critical information rapidly in high-stakes, fast-paced environments such as medical emergency rooms.</a:t>
            </a:r>
          </a:p>
          <a:p>
            <a:endParaRPr lang="en-US" sz="1600" dirty="0"/>
          </a:p>
          <a:p>
            <a:r>
              <a:rPr lang="en-US" sz="1600" b="1" u="sng" dirty="0"/>
              <a:t>Comes in two modes</a:t>
            </a:r>
          </a:p>
          <a:p>
            <a:endParaRPr lang="en-US" sz="1600" dirty="0"/>
          </a:p>
          <a:p>
            <a:pPr marL="285750" indent="-285750">
              <a:buFont typeface="Arial" panose="020B0604020202020204" pitchFamily="34" charset="0"/>
              <a:buChar char="•"/>
            </a:pPr>
            <a:r>
              <a:rPr lang="en-US" sz="1600" b="1" dirty="0"/>
              <a:t>General Chat:</a:t>
            </a:r>
            <a:r>
              <a:rPr lang="en-US" sz="1600" dirty="0"/>
              <a:t> Conversational medical expert.</a:t>
            </a:r>
            <a:r>
              <a:rPr lang="en-US" sz="1600" b="1" dirty="0"/>
              <a:t> </a:t>
            </a:r>
          </a:p>
          <a:p>
            <a:pPr marL="285750" indent="-285750">
              <a:buFont typeface="Arial" panose="020B0604020202020204" pitchFamily="34" charset="0"/>
              <a:buChar char="•"/>
            </a:pPr>
            <a:endParaRPr lang="en-US" sz="1600" b="1" dirty="0"/>
          </a:p>
          <a:p>
            <a:pPr marL="285750" indent="-285750">
              <a:buFont typeface="Arial" panose="020B0604020202020204" pitchFamily="34" charset="0"/>
              <a:buChar char="•"/>
            </a:pPr>
            <a:r>
              <a:rPr lang="en-US" sz="1600" b="1" dirty="0"/>
              <a:t>ER Pre-Op Assistant (SIM):</a:t>
            </a:r>
            <a:r>
              <a:rPr lang="en-US" sz="1600" dirty="0"/>
              <a:t> simulates a pre-operative readiness assistant that generates structured pre-op checklists based on uploaded synthetic patient records.</a:t>
            </a:r>
          </a:p>
          <a:p>
            <a:endParaRPr lang="en-US" sz="1600" dirty="0"/>
          </a:p>
          <a:p>
            <a:endParaRPr lang="en-US" sz="1600" dirty="0"/>
          </a:p>
          <a:p>
            <a:endParaRPr lang="en-US" sz="1600" dirty="0"/>
          </a:p>
          <a:p>
            <a:endParaRPr lang="en-US" sz="1600" dirty="0"/>
          </a:p>
          <a:p>
            <a:endParaRPr lang="en-US" sz="1600" dirty="0"/>
          </a:p>
          <a:p>
            <a:endParaRPr lang="en-US" sz="1600" dirty="0"/>
          </a:p>
        </p:txBody>
      </p:sp>
    </p:spTree>
    <p:extLst>
      <p:ext uri="{BB962C8B-B14F-4D97-AF65-F5344CB8AC3E}">
        <p14:creationId xmlns:p14="http://schemas.microsoft.com/office/powerpoint/2010/main" val="2628091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24DC0D5-E8F3-9AD5-315C-DD6713936698}"/>
              </a:ext>
            </a:extLst>
          </p:cNvPr>
          <p:cNvPicPr>
            <a:picLocks noChangeAspect="1"/>
          </p:cNvPicPr>
          <p:nvPr/>
        </p:nvPicPr>
        <p:blipFill>
          <a:blip r:embed="rId3"/>
          <a:stretch>
            <a:fillRect/>
          </a:stretch>
        </p:blipFill>
        <p:spPr>
          <a:xfrm>
            <a:off x="1007682" y="1"/>
            <a:ext cx="6573795" cy="6857999"/>
          </a:xfrm>
          <a:prstGeom prst="rect">
            <a:avLst/>
          </a:prstGeom>
        </p:spPr>
      </p:pic>
      <p:cxnSp>
        <p:nvCxnSpPr>
          <p:cNvPr id="20" name="Straight Arrow Connector 19">
            <a:extLst>
              <a:ext uri="{FF2B5EF4-FFF2-40B4-BE49-F238E27FC236}">
                <a16:creationId xmlns:a16="http://schemas.microsoft.com/office/drawing/2014/main" id="{5F4ECA53-5BDB-D37D-7022-9018B7DB71C0}"/>
              </a:ext>
            </a:extLst>
          </p:cNvPr>
          <p:cNvCxnSpPr>
            <a:cxnSpLocks/>
          </p:cNvCxnSpPr>
          <p:nvPr/>
        </p:nvCxnSpPr>
        <p:spPr>
          <a:xfrm>
            <a:off x="3020291" y="544018"/>
            <a:ext cx="4877130" cy="2318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1B9548D-61E5-94DC-E749-7C1A9A6C963D}"/>
              </a:ext>
            </a:extLst>
          </p:cNvPr>
          <p:cNvCxnSpPr>
            <a:cxnSpLocks/>
          </p:cNvCxnSpPr>
          <p:nvPr/>
        </p:nvCxnSpPr>
        <p:spPr>
          <a:xfrm>
            <a:off x="4400459" y="1265929"/>
            <a:ext cx="3305547" cy="15055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4D1A932-E238-FAF3-69C9-9932F6C5E5F1}"/>
              </a:ext>
            </a:extLst>
          </p:cNvPr>
          <p:cNvCxnSpPr>
            <a:cxnSpLocks/>
          </p:cNvCxnSpPr>
          <p:nvPr/>
        </p:nvCxnSpPr>
        <p:spPr>
          <a:xfrm>
            <a:off x="4752839" y="2629149"/>
            <a:ext cx="3144582" cy="8990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Right Brace 24">
            <a:extLst>
              <a:ext uri="{FF2B5EF4-FFF2-40B4-BE49-F238E27FC236}">
                <a16:creationId xmlns:a16="http://schemas.microsoft.com/office/drawing/2014/main" id="{0BF98411-F1A0-353A-63FE-074CED276FC5}"/>
              </a:ext>
            </a:extLst>
          </p:cNvPr>
          <p:cNvSpPr/>
          <p:nvPr/>
        </p:nvSpPr>
        <p:spPr>
          <a:xfrm>
            <a:off x="6875929" y="3233635"/>
            <a:ext cx="1709494" cy="1397876"/>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600"/>
          </a:p>
        </p:txBody>
      </p:sp>
      <p:cxnSp>
        <p:nvCxnSpPr>
          <p:cNvPr id="26" name="Straight Arrow Connector 25">
            <a:extLst>
              <a:ext uri="{FF2B5EF4-FFF2-40B4-BE49-F238E27FC236}">
                <a16:creationId xmlns:a16="http://schemas.microsoft.com/office/drawing/2014/main" id="{CA715215-554D-E804-781D-0EE513C7D2A1}"/>
              </a:ext>
            </a:extLst>
          </p:cNvPr>
          <p:cNvCxnSpPr>
            <a:cxnSpLocks/>
            <a:endCxn id="40" idx="1"/>
          </p:cNvCxnSpPr>
          <p:nvPr/>
        </p:nvCxnSpPr>
        <p:spPr>
          <a:xfrm flipV="1">
            <a:off x="3891418" y="6719633"/>
            <a:ext cx="3839258" cy="5762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342ECD49-6279-2391-C528-5FD98C531048}"/>
              </a:ext>
            </a:extLst>
          </p:cNvPr>
          <p:cNvCxnSpPr>
            <a:cxnSpLocks/>
            <a:endCxn id="40" idx="1"/>
          </p:cNvCxnSpPr>
          <p:nvPr/>
        </p:nvCxnSpPr>
        <p:spPr>
          <a:xfrm>
            <a:off x="5635708" y="6368183"/>
            <a:ext cx="2094968" cy="3514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6119285-C240-314C-E8EB-78664C4DAE96}"/>
              </a:ext>
            </a:extLst>
          </p:cNvPr>
          <p:cNvSpPr txBox="1"/>
          <p:nvPr/>
        </p:nvSpPr>
        <p:spPr>
          <a:xfrm>
            <a:off x="7757763" y="5908068"/>
            <a:ext cx="1912283" cy="338554"/>
          </a:xfrm>
          <a:prstGeom prst="rect">
            <a:avLst/>
          </a:prstGeom>
          <a:noFill/>
        </p:spPr>
        <p:txBody>
          <a:bodyPr wrap="square" rtlCol="0">
            <a:spAutoFit/>
          </a:bodyPr>
          <a:lstStyle/>
          <a:p>
            <a:r>
              <a:rPr lang="en-US" sz="1600" dirty="0"/>
              <a:t>Assistant name</a:t>
            </a:r>
          </a:p>
        </p:txBody>
      </p:sp>
      <p:sp>
        <p:nvSpPr>
          <p:cNvPr id="34" name="TextBox 33">
            <a:extLst>
              <a:ext uri="{FF2B5EF4-FFF2-40B4-BE49-F238E27FC236}">
                <a16:creationId xmlns:a16="http://schemas.microsoft.com/office/drawing/2014/main" id="{1626FF3E-93A0-273C-0DAC-39B14CE2426F}"/>
              </a:ext>
            </a:extLst>
          </p:cNvPr>
          <p:cNvSpPr txBox="1"/>
          <p:nvPr/>
        </p:nvSpPr>
        <p:spPr>
          <a:xfrm>
            <a:off x="8416901" y="3614199"/>
            <a:ext cx="1253145" cy="584775"/>
          </a:xfrm>
          <a:prstGeom prst="rect">
            <a:avLst/>
          </a:prstGeom>
          <a:noFill/>
        </p:spPr>
        <p:txBody>
          <a:bodyPr wrap="square" rtlCol="0">
            <a:spAutoFit/>
          </a:bodyPr>
          <a:lstStyle/>
          <a:p>
            <a:pPr algn="ctr"/>
            <a:r>
              <a:rPr lang="en-US" sz="1600" dirty="0"/>
              <a:t>Persona Prompt</a:t>
            </a:r>
          </a:p>
        </p:txBody>
      </p:sp>
      <p:sp>
        <p:nvSpPr>
          <p:cNvPr id="36" name="TextBox 35">
            <a:extLst>
              <a:ext uri="{FF2B5EF4-FFF2-40B4-BE49-F238E27FC236}">
                <a16:creationId xmlns:a16="http://schemas.microsoft.com/office/drawing/2014/main" id="{C3874CE7-5A92-C163-2F4D-3BE34E97E9BB}"/>
              </a:ext>
            </a:extLst>
          </p:cNvPr>
          <p:cNvSpPr txBox="1"/>
          <p:nvPr/>
        </p:nvSpPr>
        <p:spPr>
          <a:xfrm>
            <a:off x="7688606" y="2415716"/>
            <a:ext cx="1880996" cy="584775"/>
          </a:xfrm>
          <a:prstGeom prst="rect">
            <a:avLst/>
          </a:prstGeom>
          <a:noFill/>
        </p:spPr>
        <p:txBody>
          <a:bodyPr wrap="square" rtlCol="0">
            <a:spAutoFit/>
          </a:bodyPr>
          <a:lstStyle/>
          <a:p>
            <a:pPr algn="ctr"/>
            <a:r>
              <a:rPr lang="en-US" sz="1600" dirty="0"/>
              <a:t>Customization slider</a:t>
            </a:r>
          </a:p>
        </p:txBody>
      </p:sp>
      <p:sp>
        <p:nvSpPr>
          <p:cNvPr id="37" name="TextBox 36">
            <a:extLst>
              <a:ext uri="{FF2B5EF4-FFF2-40B4-BE49-F238E27FC236}">
                <a16:creationId xmlns:a16="http://schemas.microsoft.com/office/drawing/2014/main" id="{12C9797A-157B-596F-72D6-2D3F574562E6}"/>
              </a:ext>
            </a:extLst>
          </p:cNvPr>
          <p:cNvSpPr txBox="1"/>
          <p:nvPr/>
        </p:nvSpPr>
        <p:spPr>
          <a:xfrm>
            <a:off x="7681680" y="1215925"/>
            <a:ext cx="1880996" cy="584775"/>
          </a:xfrm>
          <a:prstGeom prst="rect">
            <a:avLst/>
          </a:prstGeom>
          <a:noFill/>
        </p:spPr>
        <p:txBody>
          <a:bodyPr wrap="square" rtlCol="0">
            <a:spAutoFit/>
          </a:bodyPr>
          <a:lstStyle/>
          <a:p>
            <a:pPr algn="ctr"/>
            <a:r>
              <a:rPr lang="en-US" sz="1600" dirty="0"/>
              <a:t>Two modes for Different scenarios</a:t>
            </a:r>
          </a:p>
        </p:txBody>
      </p:sp>
      <p:sp>
        <p:nvSpPr>
          <p:cNvPr id="40" name="TextBox 39">
            <a:extLst>
              <a:ext uri="{FF2B5EF4-FFF2-40B4-BE49-F238E27FC236}">
                <a16:creationId xmlns:a16="http://schemas.microsoft.com/office/drawing/2014/main" id="{5547B8A6-DE34-725F-2283-27DE3A0FBA76}"/>
              </a:ext>
            </a:extLst>
          </p:cNvPr>
          <p:cNvSpPr txBox="1"/>
          <p:nvPr/>
        </p:nvSpPr>
        <p:spPr>
          <a:xfrm>
            <a:off x="7730676" y="6550356"/>
            <a:ext cx="1253145" cy="338554"/>
          </a:xfrm>
          <a:prstGeom prst="rect">
            <a:avLst/>
          </a:prstGeom>
          <a:noFill/>
        </p:spPr>
        <p:txBody>
          <a:bodyPr wrap="square" rtlCol="0">
            <a:spAutoFit/>
          </a:bodyPr>
          <a:lstStyle/>
          <a:p>
            <a:r>
              <a:rPr lang="en-US" sz="1600" dirty="0"/>
              <a:t>Disclaimer</a:t>
            </a:r>
          </a:p>
        </p:txBody>
      </p:sp>
      <p:cxnSp>
        <p:nvCxnSpPr>
          <p:cNvPr id="43" name="Straight Arrow Connector 42">
            <a:extLst>
              <a:ext uri="{FF2B5EF4-FFF2-40B4-BE49-F238E27FC236}">
                <a16:creationId xmlns:a16="http://schemas.microsoft.com/office/drawing/2014/main" id="{5B62657F-D821-8134-5204-59B7053ACDCD}"/>
              </a:ext>
            </a:extLst>
          </p:cNvPr>
          <p:cNvCxnSpPr>
            <a:cxnSpLocks/>
          </p:cNvCxnSpPr>
          <p:nvPr/>
        </p:nvCxnSpPr>
        <p:spPr>
          <a:xfrm flipV="1">
            <a:off x="2404204" y="6092734"/>
            <a:ext cx="5326472" cy="53212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4E304AAC-4ABE-DDF6-45B7-BE0DF3686360}"/>
              </a:ext>
            </a:extLst>
          </p:cNvPr>
          <p:cNvSpPr txBox="1"/>
          <p:nvPr/>
        </p:nvSpPr>
        <p:spPr>
          <a:xfrm>
            <a:off x="7897421" y="611378"/>
            <a:ext cx="1912283" cy="338554"/>
          </a:xfrm>
          <a:prstGeom prst="rect">
            <a:avLst/>
          </a:prstGeom>
          <a:noFill/>
        </p:spPr>
        <p:txBody>
          <a:bodyPr wrap="square" rtlCol="0">
            <a:spAutoFit/>
          </a:bodyPr>
          <a:lstStyle/>
          <a:p>
            <a:r>
              <a:rPr lang="en-US" sz="1600" dirty="0"/>
              <a:t>Domain name</a:t>
            </a:r>
          </a:p>
        </p:txBody>
      </p:sp>
      <p:sp>
        <p:nvSpPr>
          <p:cNvPr id="8" name="Title 1">
            <a:extLst>
              <a:ext uri="{FF2B5EF4-FFF2-40B4-BE49-F238E27FC236}">
                <a16:creationId xmlns:a16="http://schemas.microsoft.com/office/drawing/2014/main" id="{FF13962F-8AE7-6E6E-0BDE-A7ADE770BFDD}"/>
              </a:ext>
            </a:extLst>
          </p:cNvPr>
          <p:cNvSpPr>
            <a:spLocks noGrp="1"/>
          </p:cNvSpPr>
          <p:nvPr>
            <p:ph type="title"/>
          </p:nvPr>
        </p:nvSpPr>
        <p:spPr>
          <a:xfrm>
            <a:off x="7623305" y="-18831"/>
            <a:ext cx="4310223" cy="606867"/>
          </a:xfrm>
        </p:spPr>
        <p:txBody>
          <a:bodyPr>
            <a:normAutofit fontScale="90000"/>
          </a:bodyPr>
          <a:lstStyle/>
          <a:p>
            <a:pPr algn="ctr"/>
            <a:r>
              <a:rPr lang="en-US" b="1" u="sng" dirty="0"/>
              <a:t>Code Highlights</a:t>
            </a:r>
          </a:p>
        </p:txBody>
      </p:sp>
    </p:spTree>
    <p:extLst>
      <p:ext uri="{BB962C8B-B14F-4D97-AF65-F5344CB8AC3E}">
        <p14:creationId xmlns:p14="http://schemas.microsoft.com/office/powerpoint/2010/main" val="1087621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1CD7964F-FE08-B694-4B1D-3377B5EF16C4}"/>
              </a:ext>
            </a:extLst>
          </p:cNvPr>
          <p:cNvGraphicFramePr>
            <a:graphicFrameLocks noGrp="1"/>
          </p:cNvGraphicFramePr>
          <p:nvPr>
            <p:extLst>
              <p:ext uri="{D42A27DB-BD31-4B8C-83A1-F6EECF244321}">
                <p14:modId xmlns:p14="http://schemas.microsoft.com/office/powerpoint/2010/main" val="614452636"/>
              </p:ext>
            </p:extLst>
          </p:nvPr>
        </p:nvGraphicFramePr>
        <p:xfrm>
          <a:off x="1148497" y="2288659"/>
          <a:ext cx="10280165" cy="4393275"/>
        </p:xfrm>
        <a:graphic>
          <a:graphicData uri="http://schemas.openxmlformats.org/drawingml/2006/table">
            <a:tbl>
              <a:tblPr firstRow="1" bandRow="1">
                <a:tableStyleId>{3B4B98B0-60AC-42C2-AFA5-B58CD77FA1E5}</a:tableStyleId>
              </a:tblPr>
              <a:tblGrid>
                <a:gridCol w="423517">
                  <a:extLst>
                    <a:ext uri="{9D8B030D-6E8A-4147-A177-3AD203B41FA5}">
                      <a16:colId xmlns:a16="http://schemas.microsoft.com/office/drawing/2014/main" val="3285452308"/>
                    </a:ext>
                  </a:extLst>
                </a:gridCol>
                <a:gridCol w="824143">
                  <a:extLst>
                    <a:ext uri="{9D8B030D-6E8A-4147-A177-3AD203B41FA5}">
                      <a16:colId xmlns:a16="http://schemas.microsoft.com/office/drawing/2014/main" val="4168490100"/>
                    </a:ext>
                  </a:extLst>
                </a:gridCol>
                <a:gridCol w="272170">
                  <a:extLst>
                    <a:ext uri="{9D8B030D-6E8A-4147-A177-3AD203B41FA5}">
                      <a16:colId xmlns:a16="http://schemas.microsoft.com/office/drawing/2014/main" val="3765477356"/>
                    </a:ext>
                  </a:extLst>
                </a:gridCol>
                <a:gridCol w="418430">
                  <a:extLst>
                    <a:ext uri="{9D8B030D-6E8A-4147-A177-3AD203B41FA5}">
                      <a16:colId xmlns:a16="http://schemas.microsoft.com/office/drawing/2014/main" val="2767864764"/>
                    </a:ext>
                  </a:extLst>
                </a:gridCol>
                <a:gridCol w="373916">
                  <a:extLst>
                    <a:ext uri="{9D8B030D-6E8A-4147-A177-3AD203B41FA5}">
                      <a16:colId xmlns:a16="http://schemas.microsoft.com/office/drawing/2014/main" val="834814992"/>
                    </a:ext>
                  </a:extLst>
                </a:gridCol>
                <a:gridCol w="424788">
                  <a:extLst>
                    <a:ext uri="{9D8B030D-6E8A-4147-A177-3AD203B41FA5}">
                      <a16:colId xmlns:a16="http://schemas.microsoft.com/office/drawing/2014/main" val="2544599214"/>
                    </a:ext>
                  </a:extLst>
                </a:gridCol>
                <a:gridCol w="401895">
                  <a:extLst>
                    <a:ext uri="{9D8B030D-6E8A-4147-A177-3AD203B41FA5}">
                      <a16:colId xmlns:a16="http://schemas.microsoft.com/office/drawing/2014/main" val="2335496373"/>
                    </a:ext>
                  </a:extLst>
                </a:gridCol>
                <a:gridCol w="507458">
                  <a:extLst>
                    <a:ext uri="{9D8B030D-6E8A-4147-A177-3AD203B41FA5}">
                      <a16:colId xmlns:a16="http://schemas.microsoft.com/office/drawing/2014/main" val="3961999312"/>
                    </a:ext>
                  </a:extLst>
                </a:gridCol>
                <a:gridCol w="1397738">
                  <a:extLst>
                    <a:ext uri="{9D8B030D-6E8A-4147-A177-3AD203B41FA5}">
                      <a16:colId xmlns:a16="http://schemas.microsoft.com/office/drawing/2014/main" val="2316498279"/>
                    </a:ext>
                  </a:extLst>
                </a:gridCol>
                <a:gridCol w="929705">
                  <a:extLst>
                    <a:ext uri="{9D8B030D-6E8A-4147-A177-3AD203B41FA5}">
                      <a16:colId xmlns:a16="http://schemas.microsoft.com/office/drawing/2014/main" val="3367619218"/>
                    </a:ext>
                  </a:extLst>
                </a:gridCol>
                <a:gridCol w="754192">
                  <a:extLst>
                    <a:ext uri="{9D8B030D-6E8A-4147-A177-3AD203B41FA5}">
                      <a16:colId xmlns:a16="http://schemas.microsoft.com/office/drawing/2014/main" val="2947661380"/>
                    </a:ext>
                  </a:extLst>
                </a:gridCol>
                <a:gridCol w="1711880">
                  <a:extLst>
                    <a:ext uri="{9D8B030D-6E8A-4147-A177-3AD203B41FA5}">
                      <a16:colId xmlns:a16="http://schemas.microsoft.com/office/drawing/2014/main" val="3005091067"/>
                    </a:ext>
                  </a:extLst>
                </a:gridCol>
                <a:gridCol w="972947">
                  <a:extLst>
                    <a:ext uri="{9D8B030D-6E8A-4147-A177-3AD203B41FA5}">
                      <a16:colId xmlns:a16="http://schemas.microsoft.com/office/drawing/2014/main" val="2528235194"/>
                    </a:ext>
                  </a:extLst>
                </a:gridCol>
                <a:gridCol w="867386">
                  <a:extLst>
                    <a:ext uri="{9D8B030D-6E8A-4147-A177-3AD203B41FA5}">
                      <a16:colId xmlns:a16="http://schemas.microsoft.com/office/drawing/2014/main" val="2144040285"/>
                    </a:ext>
                  </a:extLst>
                </a:gridCol>
              </a:tblGrid>
              <a:tr h="274638">
                <a:tc>
                  <a:txBody>
                    <a:bodyPr/>
                    <a:lstStyle/>
                    <a:p>
                      <a:pPr algn="ctr" fontAlgn="t">
                        <a:buNone/>
                      </a:pPr>
                      <a:r>
                        <a:rPr lang="en-US" sz="800" b="1" u="none" strike="noStrike">
                          <a:solidFill>
                            <a:srgbClr val="000000"/>
                          </a:solidFill>
                          <a:effectLst/>
                        </a:rPr>
                        <a:t>Patient ID</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Full Name</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Age</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Sex</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Blood Type</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Weight (kg)</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Height (cm)</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Known Allergies</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Pre-existing Conditions</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Current Medications</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Past Surgical History</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Vital Signs on Admission</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Lab Abnormalities / Key Results</a:t>
                      </a:r>
                      <a:endParaRPr lang="en-US" sz="800" b="1" i="0" u="none" strike="noStrike">
                        <a:solidFill>
                          <a:srgbClr val="000000"/>
                        </a:solidFill>
                        <a:effectLst/>
                        <a:latin typeface="Calibri" panose="020F0502020204030204" pitchFamily="34" charset="0"/>
                      </a:endParaRPr>
                    </a:p>
                  </a:txBody>
                  <a:tcPr marL="1143" marR="1143" marT="1143" marB="0"/>
                </a:tc>
                <a:tc>
                  <a:txBody>
                    <a:bodyPr/>
                    <a:lstStyle/>
                    <a:p>
                      <a:pPr algn="ctr" fontAlgn="t">
                        <a:buNone/>
                      </a:pPr>
                      <a:r>
                        <a:rPr lang="en-US" sz="800" b="1" u="none" strike="noStrike">
                          <a:solidFill>
                            <a:srgbClr val="000000"/>
                          </a:solidFill>
                          <a:effectLst/>
                        </a:rPr>
                        <a:t>Anesthesia Risk (ASA Class)</a:t>
                      </a:r>
                      <a:endParaRPr lang="en-US" sz="800" b="1" i="0" u="none" strike="noStrike">
                        <a:solidFill>
                          <a:srgbClr val="000000"/>
                        </a:solidFill>
                        <a:effectLst/>
                        <a:latin typeface="Calibri" panose="020F0502020204030204" pitchFamily="34" charset="0"/>
                      </a:endParaRPr>
                    </a:p>
                  </a:txBody>
                  <a:tcPr marL="1143" marR="1143" marT="1143" marB="0"/>
                </a:tc>
                <a:extLst>
                  <a:ext uri="{0D108BD9-81ED-4DB2-BD59-A6C34878D82A}">
                    <a16:rowId xmlns:a16="http://schemas.microsoft.com/office/drawing/2014/main" val="134470487"/>
                  </a:ext>
                </a:extLst>
              </a:tr>
              <a:tr h="274638">
                <a:tc>
                  <a:txBody>
                    <a:bodyPr/>
                    <a:lstStyle/>
                    <a:p>
                      <a:pPr algn="l" fontAlgn="b">
                        <a:buNone/>
                      </a:pPr>
                      <a:r>
                        <a:rPr lang="en-US" sz="800" b="0" u="none" strike="noStrike">
                          <a:solidFill>
                            <a:srgbClr val="000000"/>
                          </a:solidFill>
                          <a:effectLst/>
                        </a:rPr>
                        <a:t>P001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dirty="0">
                          <a:solidFill>
                            <a:srgbClr val="000000"/>
                          </a:solidFill>
                          <a:effectLst/>
                        </a:rPr>
                        <a:t>Coach Dan Wilcox</a:t>
                      </a:r>
                      <a:endParaRPr lang="en-US" sz="800" b="0" i="0" u="none" strike="noStrike" dirty="0">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41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Female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O-</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50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182</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Epilepsy, Obstructive Sleep Apnea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Omeprazole, Insulin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Appendectomy</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118/67 mmHg, HR 80 bpm, RR 12/min, Temp 37.6°C, SpO₂ 98%</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Elevated liver enzymes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V</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3744214687"/>
                  </a:ext>
                </a:extLst>
              </a:tr>
              <a:tr h="274638">
                <a:tc>
                  <a:txBody>
                    <a:bodyPr/>
                    <a:lstStyle/>
                    <a:p>
                      <a:pPr algn="l" fontAlgn="b">
                        <a:buNone/>
                      </a:pPr>
                      <a:r>
                        <a:rPr lang="en-US" sz="800" b="0" u="none" strike="noStrike">
                          <a:solidFill>
                            <a:srgbClr val="000000"/>
                          </a:solidFill>
                          <a:effectLst/>
                        </a:rPr>
                        <a:t>P002</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QB Jalen Rivers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58</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97</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167</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Coronary Artery Disease, Chronic Kidney Disease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Prednisone, Gabapentin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dirty="0">
                          <a:solidFill>
                            <a:srgbClr val="000000"/>
                          </a:solidFill>
                          <a:effectLst/>
                        </a:rPr>
                        <a:t>None</a:t>
                      </a:r>
                      <a:endParaRPr lang="en-US" sz="800" b="0" i="0" u="none" strike="noStrike" dirty="0">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128/94 mmHg, HR 60 bpm, RR 24/min, Temp 39.2°C, SpO₂ 95%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Elevated liver enzymes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III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1993034340"/>
                  </a:ext>
                </a:extLst>
              </a:tr>
              <a:tr h="274638">
                <a:tc>
                  <a:txBody>
                    <a:bodyPr/>
                    <a:lstStyle/>
                    <a:p>
                      <a:pPr algn="l" fontAlgn="b">
                        <a:buNone/>
                      </a:pPr>
                      <a:r>
                        <a:rPr lang="en-US" sz="800" b="0" u="none" strike="noStrike">
                          <a:solidFill>
                            <a:srgbClr val="000000"/>
                          </a:solidFill>
                          <a:effectLst/>
                        </a:rPr>
                        <a:t>P003</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RB Marcus Hightower</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29</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O-</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91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150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Atrial Fibrillation, Anemia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Warfarin, Omeprazole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C-section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132/91 mmHg, HR 84 bpm, RR 18/min, Temp 37.7°C, SpO₂ 90%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Low platelets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III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2986642864"/>
                  </a:ext>
                </a:extLst>
              </a:tr>
              <a:tr h="274638">
                <a:tc>
                  <a:txBody>
                    <a:bodyPr/>
                    <a:lstStyle/>
                    <a:p>
                      <a:pPr algn="l" fontAlgn="b">
                        <a:buNone/>
                      </a:pPr>
                      <a:r>
                        <a:rPr lang="en-US" sz="800" b="0" u="none" strike="noStrike">
                          <a:solidFill>
                            <a:srgbClr val="000000"/>
                          </a:solidFill>
                          <a:effectLst/>
                        </a:rPr>
                        <a:t>P004</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WR Eli Thornton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64</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Female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80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176</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Sulfa drugs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Rheumatoid Arthritis, Asthma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Albuterol Inhaler, Atorvastatin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Knee Replacement</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117/93 mmHg, HR 99 bpm, RR 19/min, Temp 36.9°C, SpO₂ 93%</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Normal labs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1183676878"/>
                  </a:ext>
                </a:extLst>
              </a:tr>
              <a:tr h="274638">
                <a:tc>
                  <a:txBody>
                    <a:bodyPr/>
                    <a:lstStyle/>
                    <a:p>
                      <a:pPr algn="l" fontAlgn="b">
                        <a:buNone/>
                      </a:pPr>
                      <a:r>
                        <a:rPr lang="en-US" sz="800" b="0" u="none" strike="noStrike">
                          <a:solidFill>
                            <a:srgbClr val="000000"/>
                          </a:solidFill>
                          <a:effectLst/>
                        </a:rPr>
                        <a:t>P005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TE Chris Langford</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28</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86</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171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Peanuts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Heart Failure, COPD</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Lisinopril, Furosemide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Tonsillectomy</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128/88 mmHg, HR 99 bpm, RR 15/min, Temp 38.2°C, SpO₂ 96%</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Prolonged INR</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III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325211801"/>
                  </a:ext>
                </a:extLst>
              </a:tr>
              <a:tr h="274638">
                <a:tc>
                  <a:txBody>
                    <a:bodyPr/>
                    <a:lstStyle/>
                    <a:p>
                      <a:pPr algn="l" fontAlgn="b">
                        <a:buNone/>
                      </a:pPr>
                      <a:r>
                        <a:rPr lang="en-US" sz="800" b="0" u="none" strike="noStrike">
                          <a:solidFill>
                            <a:srgbClr val="000000"/>
                          </a:solidFill>
                          <a:effectLst/>
                        </a:rPr>
                        <a:t>P006</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LB Tony Delgado</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32</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Female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68</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155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COPD, Coronary Artery Disease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Albuterol Inhaler, Atorvastatin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C-section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97/67 mmHg, HR 117 bpm, RR 25/min, Temp 38.0°C, SpO₂ 94%</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Mild anemia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1434745609"/>
                  </a:ext>
                </a:extLst>
              </a:tr>
              <a:tr h="274638">
                <a:tc>
                  <a:txBody>
                    <a:bodyPr/>
                    <a:lstStyle/>
                    <a:p>
                      <a:pPr algn="l" fontAlgn="b">
                        <a:buNone/>
                      </a:pPr>
                      <a:r>
                        <a:rPr lang="en-US" sz="800" b="0" u="none" strike="noStrike">
                          <a:solidFill>
                            <a:srgbClr val="000000"/>
                          </a:solidFill>
                          <a:effectLst/>
                        </a:rPr>
                        <a:t>P007</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CB Malik Stokes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75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81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171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Peanuts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Atrial Fibrillation, Heart Failure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dirty="0">
                          <a:solidFill>
                            <a:srgbClr val="000000"/>
                          </a:solidFill>
                          <a:effectLst/>
                        </a:rPr>
                        <a:t>Albuterol Inhaler, Amlodipine</a:t>
                      </a:r>
                      <a:endParaRPr lang="en-US" sz="800" b="0" i="0" u="none" strike="noStrike" dirty="0">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114/83 mmHg, HR 93 bpm, RR 24/min, Temp 39.2°C, SpO₂ 99%</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Low platelets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V</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1330678981"/>
                  </a:ext>
                </a:extLst>
              </a:tr>
              <a:tr h="274638">
                <a:tc>
                  <a:txBody>
                    <a:bodyPr/>
                    <a:lstStyle/>
                    <a:p>
                      <a:pPr algn="l" fontAlgn="b">
                        <a:buNone/>
                      </a:pPr>
                      <a:r>
                        <a:rPr lang="en-US" sz="800" b="0" u="none" strike="noStrike">
                          <a:solidFill>
                            <a:srgbClr val="000000"/>
                          </a:solidFill>
                          <a:effectLst/>
                        </a:rPr>
                        <a:t>P008</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DL Connor Bates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62</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dirty="0">
                          <a:solidFill>
                            <a:srgbClr val="000000"/>
                          </a:solidFill>
                          <a:effectLst/>
                        </a:rPr>
                        <a:t>Male</a:t>
                      </a:r>
                      <a:endParaRPr lang="en-US" sz="800" b="0" i="0" u="none" strike="noStrike" dirty="0">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112</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175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Sulfa drugs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Hypertension, Hypothyroidism</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Omeprazole, Insulin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Appendectomy</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96/84 mmHg, HR 79 bpm, RR 24/min, Temp 38.9°C, SpO₂ 97%</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Elevated liver enzymes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V</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2481302258"/>
                  </a:ext>
                </a:extLst>
              </a:tr>
              <a:tr h="274638">
                <a:tc>
                  <a:txBody>
                    <a:bodyPr/>
                    <a:lstStyle/>
                    <a:p>
                      <a:pPr algn="l" fontAlgn="b">
                        <a:buNone/>
                      </a:pPr>
                      <a:r>
                        <a:rPr lang="en-US" sz="800" b="0" u="none" strike="noStrike">
                          <a:solidFill>
                            <a:srgbClr val="000000"/>
                          </a:solidFill>
                          <a:effectLst/>
                        </a:rPr>
                        <a:t>P009</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K Ryan Mendez</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25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Female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110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153</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Obstructive Sleep Apnea, Hypertension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Atorvastatin, Omeprazole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Tonsillectomy</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109/84 mmHg, HR 105 bpm, RR 22/min, Temp 38.4°C, SpO₂ 97%</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Electrolyte imbalance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dirty="0">
                          <a:solidFill>
                            <a:srgbClr val="000000"/>
                          </a:solidFill>
                          <a:effectLst/>
                        </a:rPr>
                        <a:t>V</a:t>
                      </a:r>
                      <a:endParaRPr lang="en-US" sz="800" b="0" i="0" u="none" strike="noStrike" dirty="0">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1134174875"/>
                  </a:ext>
                </a:extLst>
              </a:tr>
              <a:tr h="274638">
                <a:tc>
                  <a:txBody>
                    <a:bodyPr/>
                    <a:lstStyle/>
                    <a:p>
                      <a:pPr algn="l" fontAlgn="b">
                        <a:buNone/>
                      </a:pPr>
                      <a:r>
                        <a:rPr lang="en-US" sz="800" b="0" u="none" strike="noStrike">
                          <a:solidFill>
                            <a:srgbClr val="000000"/>
                          </a:solidFill>
                          <a:effectLst/>
                        </a:rPr>
                        <a:t>P010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P Jordan Whitlow</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53</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108</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174</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NSAIDs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Hypertension, Anemia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Lisinopril, Losartan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135/95 mmHg, HR 99 bpm, RR 24/min, Temp 37.6°C, SpO₂ 91%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Elevated creatinine, low Hb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3087927246"/>
                  </a:ext>
                </a:extLst>
              </a:tr>
              <a:tr h="273705">
                <a:tc>
                  <a:txBody>
                    <a:bodyPr/>
                    <a:lstStyle/>
                    <a:p>
                      <a:pPr algn="l" fontAlgn="b">
                        <a:buNone/>
                      </a:pPr>
                      <a:r>
                        <a:rPr lang="en-US" sz="800" b="0" u="none" strike="noStrike">
                          <a:solidFill>
                            <a:srgbClr val="000000"/>
                          </a:solidFill>
                          <a:effectLst/>
                        </a:rPr>
                        <a:t>P011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Trainer Lisa Romero</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76</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81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165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Hypothyroidism, Rheumatoid Arthritis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Atorvastatin, Lisinopril</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Knee Replacement</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90/80 mmHg, HR 102 bpm, RR 16/min, Temp 39.2°C, SpO₂ 91%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Elevated liver enzymes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III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2015992966"/>
                  </a:ext>
                </a:extLst>
              </a:tr>
              <a:tr h="274638">
                <a:tc>
                  <a:txBody>
                    <a:bodyPr/>
                    <a:lstStyle/>
                    <a:p>
                      <a:pPr algn="l" fontAlgn="b">
                        <a:buNone/>
                      </a:pPr>
                      <a:r>
                        <a:rPr lang="en-US" sz="800" b="0" u="none" strike="noStrike">
                          <a:solidFill>
                            <a:srgbClr val="000000"/>
                          </a:solidFill>
                          <a:effectLst/>
                        </a:rPr>
                        <a:t>P012</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Physio Mark Jefferson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79</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Female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70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150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NSAIDs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Rheumatoid Arthritis, Asthma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Albuterol Inhaler, Warfarin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C-section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121/99 mmHg, HR 83 bpm, RR 13/min, Temp 37.1°C, SpO₂ 100%</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Mild anemia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1856834342"/>
                  </a:ext>
                </a:extLst>
              </a:tr>
              <a:tr h="274638">
                <a:tc>
                  <a:txBody>
                    <a:bodyPr/>
                    <a:lstStyle/>
                    <a:p>
                      <a:pPr algn="l" fontAlgn="b">
                        <a:buNone/>
                      </a:pPr>
                      <a:r>
                        <a:rPr lang="en-US" sz="800" b="0" u="none" strike="noStrike">
                          <a:solidFill>
                            <a:srgbClr val="000000"/>
                          </a:solidFill>
                          <a:effectLst/>
                        </a:rPr>
                        <a:t>P013</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Off. Coord. Derek Fields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76</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98</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189</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None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Coronary Artery Disease, Anemia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Aspirin, Insulin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Appendectomy</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110/86 mmHg, HR 66 bpm, RR 25/min, Temp 37.7°C, SpO₂ 97%</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Elevated creatinine, low Hb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IV</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2339134273"/>
                  </a:ext>
                </a:extLst>
              </a:tr>
              <a:tr h="274638">
                <a:tc>
                  <a:txBody>
                    <a:bodyPr/>
                    <a:lstStyle/>
                    <a:p>
                      <a:pPr algn="l" fontAlgn="b">
                        <a:buNone/>
                      </a:pPr>
                      <a:r>
                        <a:rPr lang="en-US" sz="800" b="0" u="none" strike="noStrike">
                          <a:solidFill>
                            <a:srgbClr val="000000"/>
                          </a:solidFill>
                          <a:effectLst/>
                        </a:rPr>
                        <a:t>P014</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Def. Coord. Caleb Monroe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51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77</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154</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Shellfish</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Diabetes Mellitus Type 2, Hypothyroidism</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Levothyroxine, Omeprazole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Appendectomy</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123/78 mmHg, HR 106 bpm, RR 17/min, Temp 39.2°C, SpO₂ 99%</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Leukocytosis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II</a:t>
                      </a:r>
                      <a:endParaRPr lang="en-US" sz="800" b="0" i="0" u="none" strike="noStrike">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640154267"/>
                  </a:ext>
                </a:extLst>
              </a:tr>
              <a:tr h="274638">
                <a:tc>
                  <a:txBody>
                    <a:bodyPr/>
                    <a:lstStyle/>
                    <a:p>
                      <a:pPr algn="l" fontAlgn="b">
                        <a:buNone/>
                      </a:pPr>
                      <a:r>
                        <a:rPr lang="en-US" sz="800" b="0" u="none" strike="noStrike">
                          <a:solidFill>
                            <a:srgbClr val="000000"/>
                          </a:solidFill>
                          <a:effectLst/>
                        </a:rPr>
                        <a:t>P015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GM Patrick Daniels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45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Male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AB+</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101</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r" fontAlgn="b">
                        <a:buNone/>
                      </a:pPr>
                      <a:r>
                        <a:rPr lang="en-US" sz="800" b="0" u="none" strike="noStrike">
                          <a:solidFill>
                            <a:srgbClr val="000000"/>
                          </a:solidFill>
                          <a:effectLst/>
                        </a:rPr>
                        <a:t>167</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Peanuts</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Liver Cirrhosis, Heart Failure</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Aspirin, Atorvastatin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C-section</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BP 115/82 mmHg, HR 91 bpm, RR 24/min, Temp 37.7°C, SpO₂ 95%</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a:solidFill>
                            <a:srgbClr val="000000"/>
                          </a:solidFill>
                          <a:effectLst/>
                        </a:rPr>
                        <a:t>Hyperglycemia</a:t>
                      </a:r>
                      <a:endParaRPr lang="en-US" sz="800" b="0" i="0" u="none" strike="noStrike">
                        <a:solidFill>
                          <a:srgbClr val="000000"/>
                        </a:solidFill>
                        <a:effectLst/>
                        <a:latin typeface="Calibri" panose="020F0502020204030204" pitchFamily="34" charset="0"/>
                      </a:endParaRPr>
                    </a:p>
                  </a:txBody>
                  <a:tcPr marL="1143" marR="1143" marT="1143" marB="0" anchor="b"/>
                </a:tc>
                <a:tc>
                  <a:txBody>
                    <a:bodyPr/>
                    <a:lstStyle/>
                    <a:p>
                      <a:pPr algn="l" fontAlgn="b">
                        <a:buNone/>
                      </a:pPr>
                      <a:r>
                        <a:rPr lang="en-US" sz="800" b="0" u="none" strike="noStrike" dirty="0">
                          <a:solidFill>
                            <a:srgbClr val="000000"/>
                          </a:solidFill>
                          <a:effectLst/>
                        </a:rPr>
                        <a:t>III</a:t>
                      </a:r>
                      <a:endParaRPr lang="en-US" sz="800" b="0" i="0" u="none" strike="noStrike" dirty="0">
                        <a:solidFill>
                          <a:srgbClr val="000000"/>
                        </a:solidFill>
                        <a:effectLst/>
                        <a:latin typeface="Calibri" panose="020F0502020204030204" pitchFamily="34" charset="0"/>
                      </a:endParaRPr>
                    </a:p>
                  </a:txBody>
                  <a:tcPr marL="1143" marR="1143" marT="1143" marB="0" anchor="b"/>
                </a:tc>
                <a:extLst>
                  <a:ext uri="{0D108BD9-81ED-4DB2-BD59-A6C34878D82A}">
                    <a16:rowId xmlns:a16="http://schemas.microsoft.com/office/drawing/2014/main" val="271425701"/>
                  </a:ext>
                </a:extLst>
              </a:tr>
            </a:tbl>
          </a:graphicData>
        </a:graphic>
      </p:graphicFrame>
      <p:sp>
        <p:nvSpPr>
          <p:cNvPr id="3" name="Title 1">
            <a:extLst>
              <a:ext uri="{FF2B5EF4-FFF2-40B4-BE49-F238E27FC236}">
                <a16:creationId xmlns:a16="http://schemas.microsoft.com/office/drawing/2014/main" id="{63FFB95B-7067-E732-4977-FBC651A5F575}"/>
              </a:ext>
            </a:extLst>
          </p:cNvPr>
          <p:cNvSpPr txBox="1">
            <a:spLocks/>
          </p:cNvSpPr>
          <p:nvPr/>
        </p:nvSpPr>
        <p:spPr>
          <a:xfrm>
            <a:off x="3940888" y="327533"/>
            <a:ext cx="4310223" cy="606867"/>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b="1" u="sng" dirty="0"/>
              <a:t>Mock Patient Data</a:t>
            </a:r>
          </a:p>
        </p:txBody>
      </p:sp>
      <p:sp>
        <p:nvSpPr>
          <p:cNvPr id="4" name="TextBox 3">
            <a:extLst>
              <a:ext uri="{FF2B5EF4-FFF2-40B4-BE49-F238E27FC236}">
                <a16:creationId xmlns:a16="http://schemas.microsoft.com/office/drawing/2014/main" id="{507ECEFB-CEA3-B1A0-AD0D-3D91A320C57D}"/>
              </a:ext>
            </a:extLst>
          </p:cNvPr>
          <p:cNvSpPr txBox="1"/>
          <p:nvPr/>
        </p:nvSpPr>
        <p:spPr>
          <a:xfrm>
            <a:off x="763338" y="934400"/>
            <a:ext cx="11248552" cy="2308324"/>
          </a:xfrm>
          <a:prstGeom prst="rect">
            <a:avLst/>
          </a:prstGeom>
          <a:noFill/>
        </p:spPr>
        <p:txBody>
          <a:bodyPr wrap="square" rtlCol="0">
            <a:spAutoFit/>
          </a:bodyPr>
          <a:lstStyle/>
          <a:p>
            <a:pPr marL="285750" indent="-285750">
              <a:buFont typeface="Arial" panose="020B0604020202020204" pitchFamily="34" charset="0"/>
              <a:buChar char="•"/>
            </a:pPr>
            <a:r>
              <a:rPr lang="en-US" sz="1600" dirty="0"/>
              <a:t>Due to HIPPA Law restrictions we are unable to access real world medical history to test the Chat bot.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Chatbot is designed to allow users upload CSV, JSON, TXT, or PDF files with sample patient data like the table ewe used for demonstration purposes below. The data is then read and processed by the Gemini model and used to provide relevant responses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452687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54B07-6F89-A5F0-1551-D2F8708422A5}"/>
              </a:ext>
            </a:extLst>
          </p:cNvPr>
          <p:cNvSpPr>
            <a:spLocks noGrp="1"/>
          </p:cNvSpPr>
          <p:nvPr>
            <p:ph type="title"/>
          </p:nvPr>
        </p:nvSpPr>
        <p:spPr/>
        <p:txBody>
          <a:bodyPr>
            <a:normAutofit/>
          </a:bodyPr>
          <a:lstStyle/>
          <a:p>
            <a:pPr algn="ctr"/>
            <a:r>
              <a:rPr lang="en-US" sz="3600" b="1" u="sng" dirty="0"/>
              <a:t>Working link and steps to setup project locally</a:t>
            </a:r>
            <a:endParaRPr lang="en-US" b="1" u="sng" dirty="0"/>
          </a:p>
        </p:txBody>
      </p:sp>
      <p:sp>
        <p:nvSpPr>
          <p:cNvPr id="3" name="Content Placeholder 2">
            <a:extLst>
              <a:ext uri="{FF2B5EF4-FFF2-40B4-BE49-F238E27FC236}">
                <a16:creationId xmlns:a16="http://schemas.microsoft.com/office/drawing/2014/main" id="{F9B13EFF-E388-CE9A-E9B6-1D751FDA17D0}"/>
              </a:ext>
            </a:extLst>
          </p:cNvPr>
          <p:cNvSpPr>
            <a:spLocks noGrp="1"/>
          </p:cNvSpPr>
          <p:nvPr>
            <p:ph idx="1"/>
          </p:nvPr>
        </p:nvSpPr>
        <p:spPr/>
        <p:txBody>
          <a:bodyPr vert="horz" lIns="91440" tIns="45720" rIns="91440" bIns="45720" rtlCol="0" anchor="t">
            <a:normAutofit lnSpcReduction="10000"/>
          </a:bodyPr>
          <a:lstStyle/>
          <a:p>
            <a:pPr marL="383540" indent="-383540"/>
            <a:r>
              <a:rPr lang="en-US" dirty="0"/>
              <a:t>Working Link: </a:t>
            </a:r>
            <a:r>
              <a:rPr lang="en-US" dirty="0">
                <a:ea typeface="+mn-lt"/>
                <a:cs typeface="+mn-lt"/>
                <a:hlinkClick r:id="rId2"/>
              </a:rPr>
              <a:t>https://surgio.streamlit.app/</a:t>
            </a:r>
            <a:endParaRPr lang="en-US" dirty="0">
              <a:ea typeface="+mn-lt"/>
              <a:cs typeface="+mn-lt"/>
            </a:endParaRPr>
          </a:p>
          <a:p>
            <a:pPr marL="383540" indent="-383540"/>
            <a:r>
              <a:rPr lang="en-US" dirty="0"/>
              <a:t>Steps to clone, install and run the project locally:</a:t>
            </a:r>
          </a:p>
          <a:p>
            <a:pPr lvl="1" indent="-383540">
              <a:buFont typeface="Courier New" panose="020B0503020102020204" pitchFamily="34" charset="0"/>
              <a:buChar char="o"/>
            </a:pPr>
            <a:r>
              <a:rPr lang="en-US" i="0" dirty="0"/>
              <a:t>Navigate to </a:t>
            </a:r>
            <a:r>
              <a:rPr lang="en-US" i="0" dirty="0">
                <a:ea typeface="+mn-lt"/>
                <a:cs typeface="+mn-lt"/>
                <a:hlinkClick r:id="rId3"/>
              </a:rPr>
              <a:t>https://github.com/KanishkSharma7/ChatBotProject</a:t>
            </a:r>
            <a:endParaRPr lang="en-US" i="0" dirty="0">
              <a:ea typeface="+mn-lt"/>
              <a:cs typeface="+mn-lt"/>
            </a:endParaRPr>
          </a:p>
          <a:p>
            <a:pPr lvl="1" indent="-383540">
              <a:buFont typeface="Courier New" panose="020B0503020102020204" pitchFamily="34" charset="0"/>
              <a:buChar char="o"/>
            </a:pPr>
            <a:r>
              <a:rPr lang="en-US" i="0" dirty="0"/>
              <a:t>Once there run the following command to pull the project to local machine: </a:t>
            </a:r>
            <a:r>
              <a:rPr lang="en-US" i="0" dirty="0">
                <a:ea typeface="+mn-lt"/>
                <a:cs typeface="+mn-lt"/>
              </a:rPr>
              <a:t>git clone </a:t>
            </a:r>
            <a:r>
              <a:rPr lang="en-US" i="0" dirty="0">
                <a:ea typeface="+mn-lt"/>
                <a:cs typeface="+mn-lt"/>
                <a:hlinkClick r:id="rId4"/>
              </a:rPr>
              <a:t>https://github.com/KanishkSharma7/ChatBotProject.git</a:t>
            </a:r>
            <a:endParaRPr lang="en-US" i="0" dirty="0">
              <a:ea typeface="+mn-lt"/>
              <a:cs typeface="+mn-lt"/>
            </a:endParaRPr>
          </a:p>
          <a:p>
            <a:pPr lvl="1" indent="-383540">
              <a:buFont typeface="Courier New" panose="020B0503020102020204" pitchFamily="34" charset="0"/>
              <a:buChar char="o"/>
            </a:pPr>
            <a:r>
              <a:rPr lang="en-US" i="0" dirty="0"/>
              <a:t>Once cloned, create a .env file and add Gemini API key like so, GEMINI_API_KEY=*Your key here* (Without the asterisks)</a:t>
            </a:r>
          </a:p>
          <a:p>
            <a:pPr lvl="1" indent="-383540">
              <a:buFont typeface="Courier New" panose="020B0503020102020204" pitchFamily="34" charset="0"/>
              <a:buChar char="o"/>
            </a:pPr>
            <a:r>
              <a:rPr lang="en-US" i="0" dirty="0"/>
              <a:t>Then run the following command to install the associated dependencies: pip install –r </a:t>
            </a:r>
            <a:r>
              <a:rPr lang="en-US" i="0" dirty="0" err="1"/>
              <a:t>requirements.txt</a:t>
            </a:r>
            <a:endParaRPr lang="en-US" i="0" dirty="0"/>
          </a:p>
          <a:p>
            <a:pPr lvl="1" indent="-383540">
              <a:buFont typeface="Courier New" panose="020B0503020102020204" pitchFamily="34" charset="0"/>
              <a:buChar char="o"/>
            </a:pPr>
            <a:r>
              <a:rPr lang="en-US" i="0" dirty="0"/>
              <a:t>Once the dependency installation completes, run the following command to start the project locally: </a:t>
            </a:r>
            <a:r>
              <a:rPr lang="en-US" i="0" dirty="0" err="1"/>
              <a:t>streamlit</a:t>
            </a:r>
            <a:r>
              <a:rPr lang="en-US" i="0" dirty="0"/>
              <a:t> run </a:t>
            </a:r>
            <a:r>
              <a:rPr lang="en-US" i="0" dirty="0" err="1"/>
              <a:t>app.py</a:t>
            </a:r>
            <a:endParaRPr lang="en-US" i="0" dirty="0"/>
          </a:p>
        </p:txBody>
      </p:sp>
    </p:spTree>
    <p:extLst>
      <p:ext uri="{BB962C8B-B14F-4D97-AF65-F5344CB8AC3E}">
        <p14:creationId xmlns:p14="http://schemas.microsoft.com/office/powerpoint/2010/main" val="207186883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Crop</Template>
  <TotalTime>57</TotalTime>
  <Words>1031</Words>
  <Application>Microsoft Macintosh PowerPoint</Application>
  <PresentationFormat>Widescreen</PresentationFormat>
  <Paragraphs>262</Paragraphs>
  <Slides>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Arial</vt:lpstr>
      <vt:lpstr>Calibri</vt:lpstr>
      <vt:lpstr>Courier New</vt:lpstr>
      <vt:lpstr>Franklin Gothic Book</vt:lpstr>
      <vt:lpstr>Crop</vt:lpstr>
      <vt:lpstr>Assignment 1.4</vt:lpstr>
      <vt:lpstr>Surgio (PocketDoc)</vt:lpstr>
      <vt:lpstr>Code Highlights</vt:lpstr>
      <vt:lpstr>PowerPoint Presentation</vt:lpstr>
      <vt:lpstr>Working link and steps to setup project locally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Donald Udokoro</cp:lastModifiedBy>
  <cp:revision>2</cp:revision>
  <dcterms:created xsi:type="dcterms:W3CDTF">2025-10-28T01:55:03Z</dcterms:created>
  <dcterms:modified xsi:type="dcterms:W3CDTF">2025-10-28T02:52:27Z</dcterms:modified>
</cp:coreProperties>
</file>